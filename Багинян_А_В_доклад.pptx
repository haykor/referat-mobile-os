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28560" y="1825560"/>
            <a:ext cx="38851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29240" y="1825560"/>
            <a:ext cx="38851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9FF948-8AFD-4EA9-8E97-C5143A5F4175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3000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30000" y="1681200"/>
            <a:ext cx="386712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30000" y="2505240"/>
            <a:ext cx="386712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29240" y="1681200"/>
            <a:ext cx="38862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29240" y="2505240"/>
            <a:ext cx="38862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6E5AF1-B730-479D-83A7-593344CF4079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059940-2208-46BF-98FD-3551C584F79B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6BEB8A-D3C1-44CD-9D8F-DE41B0414A7A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30000" y="457200"/>
            <a:ext cx="294804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887280" y="987480"/>
            <a:ext cx="462816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30000" y="2057400"/>
            <a:ext cx="294804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78F156-C189-4CF1-9E0C-0383EFDE4F4E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30000" y="457200"/>
            <a:ext cx="294804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3887280" y="987480"/>
            <a:ext cx="462816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Вставка рисунка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30000" y="2057400"/>
            <a:ext cx="294804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C5CCEC-DF0C-4D18-9F0F-14351C81F3A2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143000" y="1122480"/>
            <a:ext cx="6856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45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8A96D2-5CBC-4EFF-BC25-453FAC5FC4C9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5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28560" y="1825560"/>
            <a:ext cx="78858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D31354-AA70-4070-B250-541ECC3065D8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543720" y="365040"/>
            <a:ext cx="197064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28560" y="365040"/>
            <a:ext cx="579960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8AB35C-5928-4395-9C20-DBE1521C2F3A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28560" y="1825560"/>
            <a:ext cx="78858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332580-BE77-49B2-B830-B626F006C83B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23880" y="1709640"/>
            <a:ext cx="788580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45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23880" y="4589640"/>
            <a:ext cx="788580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AD38F7-2758-4DE3-8DB5-8FCCB286FE8A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61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62" name="Заголовок 1"/>
          <p:cNvSpPr/>
          <p:nvPr/>
        </p:nvSpPr>
        <p:spPr>
          <a:xfrm>
            <a:off x="0" y="2433600"/>
            <a:ext cx="9142920" cy="3874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Доклад на тему: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2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«Современные мобильные операционные системы, современные приложения и перспективы развития приложений для мобильных устройств разработки ИТ предприятий в Атомной Отрасли»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50000"/>
              </a:lnSpc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Студент группы ИКБО-50-25 </a:t>
            </a: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Багинян А.В..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50000"/>
              </a:lnSpc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Руководитель </a:t>
            </a: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Миронов А.И.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50000"/>
              </a:lnSpc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Консультант </a:t>
            </a: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Рогоза В.М.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Заголовок 1"/>
          <p:cNvSpPr/>
          <p:nvPr/>
        </p:nvSpPr>
        <p:spPr>
          <a:xfrm>
            <a:off x="0" y="151200"/>
            <a:ext cx="9142920" cy="1836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МИНОБРНАУКИ РОССИИ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Федеральное государственное бюджетное образовательное учреждение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высшего образования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«МИРЭА – Российский технологический университет»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РТУ МИРЭА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Институт информационных технологий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Кафедра  информационных технологий в атомной энергетике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Рисунок 10"/>
          <p:cNvPicPr/>
          <p:nvPr/>
        </p:nvPicPr>
        <p:blipFill>
          <a:blip r:embed="rId1"/>
          <a:stretch/>
        </p:blipFill>
        <p:spPr>
          <a:xfrm>
            <a:off x="107640" y="116640"/>
            <a:ext cx="1116360" cy="71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Рисунок 11"/>
          <p:cNvPicPr/>
          <p:nvPr/>
        </p:nvPicPr>
        <p:blipFill>
          <a:blip r:embed="rId2"/>
          <a:stretch/>
        </p:blipFill>
        <p:spPr>
          <a:xfrm>
            <a:off x="8231040" y="55440"/>
            <a:ext cx="804600" cy="88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endParaRPr lang="ru-RU" sz="1800" b="0" u="none" strike="noStrike">
              <a:solidFill>
                <a:schemeClr val="dk1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67" name="Заголовок 1"/>
          <p:cNvSpPr/>
          <p:nvPr/>
        </p:nvSpPr>
        <p:spPr>
          <a:xfrm>
            <a:off x="444600" y="1268640"/>
            <a:ext cx="8361720" cy="48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Цель работы: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систематизированный анализ со­временного состояния мобильных операционных систем и приложений с акцентом на их применение в корпоративной и атомной отраслях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Задачи работы: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рассмотреть архитектуру и характеристики мобильных ОС;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проанализировать особенности применения мобильных ОС в корпо­ративной среде;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изучить специфику внедрения мобильных технологий в атомной отрасли;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классифицировать виды мобильных приложений;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выявить особенности разработки и эксплуатации корпора­тивных (enterprise) приложений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sldNum" idx="34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81FAD17E-77D4-4BD4-AAF8-F5A0A16E7352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69" name="Группа 4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70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Цели и задачи работы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Равнобедренный треугольник 2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sldNum" idx="35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0E292125-FCBB-482B-8CC4-3DE7B438BF69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74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75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Рынок ОС. Глобальный рынок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77" name=""/>
          <p:cNvPicPr/>
          <p:nvPr/>
        </p:nvPicPr>
        <p:blipFill>
          <a:blip r:embed="rId1"/>
          <a:stretch/>
        </p:blipFill>
        <p:spPr>
          <a:xfrm>
            <a:off x="205200" y="1580760"/>
            <a:ext cx="5509080" cy="27619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78" name="Заголовок 2"/>
          <p:cNvSpPr/>
          <p:nvPr/>
        </p:nvSpPr>
        <p:spPr>
          <a:xfrm>
            <a:off x="228600" y="1040040"/>
            <a:ext cx="34405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72% Android · 28% iOS.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828800" y="4343400"/>
            <a:ext cx="2022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StatCounter,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sldNum" idx="36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B65EEABE-B9F5-47E8-9815-AC6990E304EC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82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83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Рынок ОС. Android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228600" y="764640"/>
            <a:ext cx="3733560" cy="54986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86" name=""/>
          <p:cNvSpPr/>
          <p:nvPr/>
        </p:nvSpPr>
        <p:spPr>
          <a:xfrm>
            <a:off x="844200" y="6172200"/>
            <a:ext cx="235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Архитектура Android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2"/>
          <a:srcRect l="18380" t="9322" r="20410" b="9073"/>
          <a:stretch/>
        </p:blipFill>
        <p:spPr>
          <a:xfrm>
            <a:off x="6400800" y="1143000"/>
            <a:ext cx="2055960" cy="411336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88" name=""/>
          <p:cNvSpPr/>
          <p:nvPr/>
        </p:nvSpPr>
        <p:spPr>
          <a:xfrm>
            <a:off x="6858000" y="5257080"/>
            <a:ext cx="128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Android 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sldNum" idx="37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79192370-AF24-4093-9233-0A1E98747E05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91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92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Рынок ОС. iOS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94" name=""/>
          <p:cNvPicPr/>
          <p:nvPr/>
        </p:nvPicPr>
        <p:blipFill>
          <a:blip r:embed="rId1"/>
          <a:stretch/>
        </p:blipFill>
        <p:spPr>
          <a:xfrm rot="21595200">
            <a:off x="274320" y="916560"/>
            <a:ext cx="3007080" cy="53470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95" name=""/>
          <p:cNvSpPr/>
          <p:nvPr/>
        </p:nvSpPr>
        <p:spPr>
          <a:xfrm>
            <a:off x="793800" y="6266520"/>
            <a:ext cx="194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Архитектура iOS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"/>
          <p:cNvPicPr/>
          <p:nvPr/>
        </p:nvPicPr>
        <p:blipFill>
          <a:blip r:embed="rId2"/>
          <a:srcRect l="38116" t="2750" r="37375" b="5253"/>
          <a:stretch/>
        </p:blipFill>
        <p:spPr>
          <a:xfrm>
            <a:off x="5486760" y="914760"/>
            <a:ext cx="2056320" cy="43423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97" name=""/>
          <p:cNvSpPr/>
          <p:nvPr/>
        </p:nvSpPr>
        <p:spPr>
          <a:xfrm>
            <a:off x="6296400" y="5257080"/>
            <a:ext cx="561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sldNum" idx="38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CD364BDD-F431-4CD9-AE68-60EDDC853E31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00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01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Рынок ОС. Российские ОС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103" name=""/>
          <p:cNvPicPr/>
          <p:nvPr/>
        </p:nvPicPr>
        <p:blipFill>
          <a:blip r:embed="rId1"/>
          <a:stretch/>
        </p:blipFill>
        <p:spPr>
          <a:xfrm>
            <a:off x="228600" y="914400"/>
            <a:ext cx="8290080" cy="20674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pic>
        <p:nvPicPr>
          <p:cNvPr id="104" name=""/>
          <p:cNvPicPr/>
          <p:nvPr/>
        </p:nvPicPr>
        <p:blipFill>
          <a:blip r:embed="rId2"/>
          <a:stretch/>
        </p:blipFill>
        <p:spPr>
          <a:xfrm>
            <a:off x="228600" y="3200400"/>
            <a:ext cx="3974760" cy="25138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05" name=""/>
          <p:cNvSpPr/>
          <p:nvPr/>
        </p:nvSpPr>
        <p:spPr>
          <a:xfrm>
            <a:off x="1600200" y="5689080"/>
            <a:ext cx="123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KvadraOS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"/>
          <p:cNvPicPr/>
          <p:nvPr/>
        </p:nvPicPr>
        <p:blipFill>
          <a:blip r:embed="rId3"/>
          <a:stretch/>
        </p:blipFill>
        <p:spPr>
          <a:xfrm>
            <a:off x="4343400" y="3200400"/>
            <a:ext cx="1400400" cy="29948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07" name=""/>
          <p:cNvSpPr/>
          <p:nvPr/>
        </p:nvSpPr>
        <p:spPr>
          <a:xfrm>
            <a:off x="4372920" y="6195960"/>
            <a:ext cx="1299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РЕД ОС 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"/>
          <p:cNvPicPr/>
          <p:nvPr/>
        </p:nvPicPr>
        <p:blipFill>
          <a:blip r:embed="rId4"/>
          <a:srcRect l="14738" t="18605" r="65239" b="19131"/>
          <a:stretch/>
        </p:blipFill>
        <p:spPr>
          <a:xfrm>
            <a:off x="5973480" y="3200760"/>
            <a:ext cx="1827720" cy="31993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09" name=""/>
          <p:cNvSpPr/>
          <p:nvPr/>
        </p:nvSpPr>
        <p:spPr>
          <a:xfrm>
            <a:off x="6203880" y="6400800"/>
            <a:ext cx="136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Аврора ОС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11" name="PlaceHolder 1"/>
          <p:cNvSpPr>
            <a:spLocks noGrp="1"/>
          </p:cNvSpPr>
          <p:nvPr>
            <p:ph type="sldNum" idx="39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19FBD150-12D9-46E9-917E-07B0E8782FB9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12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13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Корпоративная среда. Модели развертывания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15" name="Заголовок 3"/>
          <p:cNvSpPr/>
          <p:nvPr/>
        </p:nvSpPr>
        <p:spPr>
          <a:xfrm>
            <a:off x="444600" y="1269000"/>
            <a:ext cx="5727240" cy="12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BYOD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Bring Your Own Device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COPE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Corporate-Owned, Personally Enabled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COBO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Corporate-Owned, Business Only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"/>
          <p:cNvPicPr/>
          <p:nvPr/>
        </p:nvPicPr>
        <p:blipFill>
          <a:blip r:embed="rId1"/>
          <a:stretch/>
        </p:blipFill>
        <p:spPr>
          <a:xfrm>
            <a:off x="1371600" y="2514600"/>
            <a:ext cx="5676120" cy="33516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18" name="PlaceHolder 1"/>
          <p:cNvSpPr>
            <a:spLocks noGrp="1"/>
          </p:cNvSpPr>
          <p:nvPr>
            <p:ph type="sldNum" idx="40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C6C26D15-90E9-4ABE-9C7E-C6263CFEBD84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19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20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Корпоративная среда. Аврора в корп. секторе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122" name=""/>
          <p:cNvPicPr/>
          <p:nvPr/>
        </p:nvPicPr>
        <p:blipFill>
          <a:blip r:embed="rId1"/>
          <a:stretch/>
        </p:blipFill>
        <p:spPr>
          <a:xfrm>
            <a:off x="228600" y="901440"/>
            <a:ext cx="3796920" cy="48132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23" name=""/>
          <p:cNvSpPr/>
          <p:nvPr/>
        </p:nvSpPr>
        <p:spPr>
          <a:xfrm>
            <a:off x="844560" y="5715000"/>
            <a:ext cx="2756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Архитектура Аврора ОС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Заголовок 4"/>
          <p:cNvSpPr/>
          <p:nvPr/>
        </p:nvSpPr>
        <p:spPr>
          <a:xfrm>
            <a:off x="4114800" y="1269000"/>
            <a:ext cx="435564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Единственная ОС с ФСТЭК+ФСБ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sldNum" idx="41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70C8175A-A7F3-4A4F-AC7B-7CC9EE7C3537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27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28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Корпоративная среда. Атомная отрасль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30" name="Заголовок 5"/>
          <p:cNvSpPr/>
          <p:nvPr/>
        </p:nvSpPr>
        <p:spPr>
          <a:xfrm>
            <a:off x="673200" y="1000800"/>
            <a:ext cx="4584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66"/>
              </a:buClr>
              <a:buFont typeface="Wingdings" charset="2"/>
              <a:buChar char="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Цифровые обходы оборудования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66"/>
              </a:buClr>
              <a:buFont typeface="Wingdings" charset="2"/>
              <a:buChar char="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Электронные наряды-допуски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66"/>
              </a:buClr>
              <a:buFont typeface="Wingdings" charset="2"/>
              <a:buChar char="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Интеграция с АСУ ТП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719640" y="2613600"/>
            <a:ext cx="5680800" cy="37868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sldNum" idx="42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38D8C212-43DE-4AB1-83E7-11648BFBEA9B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34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35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Корпоративная среда. Требования КИИ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37" name="Заголовок 6"/>
          <p:cNvSpPr/>
          <p:nvPr/>
        </p:nvSpPr>
        <p:spPr>
          <a:xfrm>
            <a:off x="673200" y="1600200"/>
            <a:ext cx="4584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66"/>
              </a:buClr>
              <a:buFont typeface="Wingdings" charset="2"/>
              <a:buChar char="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физическая изоляция технологической сети от корпоративной и внешнего интернета (air gap)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1"/>
          <a:stretch/>
        </p:blipFill>
        <p:spPr>
          <a:xfrm>
            <a:off x="457200" y="3345120"/>
            <a:ext cx="6652080" cy="21409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39" name=""/>
          <p:cNvSpPr/>
          <p:nvPr/>
        </p:nvSpPr>
        <p:spPr>
          <a:xfrm>
            <a:off x="2307960" y="5486400"/>
            <a:ext cx="2492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Network Segmentation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41" name="PlaceHolder 1"/>
          <p:cNvSpPr>
            <a:spLocks noGrp="1"/>
          </p:cNvSpPr>
          <p:nvPr>
            <p:ph type="sldNum" idx="43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43AAB8EC-75AB-4658-8F76-E4A713F19E39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2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43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Приложения. Виды приложений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45" name="Заголовок 8"/>
          <p:cNvSpPr/>
          <p:nvPr/>
        </p:nvSpPr>
        <p:spPr>
          <a:xfrm>
            <a:off x="914400" y="1371600"/>
            <a:ext cx="4114440" cy="12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Нативные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Скорость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Кросс-платформа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Экономия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PWA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Доступность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"/>
          <p:cNvPicPr/>
          <p:nvPr/>
        </p:nvPicPr>
        <p:blipFill>
          <a:blip r:embed="rId1"/>
          <a:stretch/>
        </p:blipFill>
        <p:spPr>
          <a:xfrm>
            <a:off x="891360" y="2971800"/>
            <a:ext cx="5509080" cy="30985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2531160" y="3549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48" name="PlaceHolder 1"/>
          <p:cNvSpPr>
            <a:spLocks noGrp="1"/>
          </p:cNvSpPr>
          <p:nvPr>
            <p:ph type="sldNum" idx="44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82637326-1D8A-418E-864A-372B6257FB7C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9" name="Группа 1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50" name="Заголовок 7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Приложения. Кросс-платформа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Равнобедренный треугольник 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52" name=""/>
          <p:cNvSpPr/>
          <p:nvPr/>
        </p:nvSpPr>
        <p:spPr>
          <a:xfrm>
            <a:off x="3200400" y="4114800"/>
            <a:ext cx="2656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Основные фреймворки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1"/>
          <a:stretch/>
        </p:blipFill>
        <p:spPr>
          <a:xfrm>
            <a:off x="589320" y="2192760"/>
            <a:ext cx="8097120" cy="19216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Num" idx="45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3AD2203E-81E1-4AB1-AFC3-6F7979ED5D72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55" name="Группа 2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56" name="Заголовок 9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Приложения. KMP и Аврора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Равнобедренный треугольник 3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158" name=""/>
          <p:cNvPicPr/>
          <p:nvPr/>
        </p:nvPicPr>
        <p:blipFill>
          <a:blip r:embed="rId1"/>
          <a:stretch/>
        </p:blipFill>
        <p:spPr>
          <a:xfrm>
            <a:off x="0" y="893520"/>
            <a:ext cx="5257440" cy="239976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59" name=""/>
          <p:cNvSpPr/>
          <p:nvPr/>
        </p:nvSpPr>
        <p:spPr>
          <a:xfrm>
            <a:off x="685800" y="3293640"/>
            <a:ext cx="354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Типовой KMP проект с Авророй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"/>
          <p:cNvPicPr/>
          <p:nvPr/>
        </p:nvPicPr>
        <p:blipFill>
          <a:blip r:embed="rId2"/>
          <a:stretch/>
        </p:blipFill>
        <p:spPr>
          <a:xfrm>
            <a:off x="2743200" y="3666600"/>
            <a:ext cx="4528080" cy="22766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61" name=""/>
          <p:cNvSpPr/>
          <p:nvPr/>
        </p:nvSpPr>
        <p:spPr>
          <a:xfrm>
            <a:off x="3657600" y="5943600"/>
            <a:ext cx="271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Структура KMP проекта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endParaRPr lang="ru-RU" sz="1800" b="0" u="none" strike="noStrike">
              <a:solidFill>
                <a:schemeClr val="dk1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sldNum" idx="46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F6E53F75-844A-49A2-AA25-288789F9A3B8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64" name="Группа 4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65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Заключение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Равнобедренный треугольник 2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67" name="Заголовок 10"/>
          <p:cNvSpPr/>
          <p:nvPr/>
        </p:nvSpPr>
        <p:spPr>
          <a:xfrm>
            <a:off x="444600" y="1269000"/>
            <a:ext cx="8361720" cy="35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Выполнены поставленные задачи: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рассмотрена архитектура мобильных ОС;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проанализированы особенности применения мобильных ОС в корпо­ративной среде;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изучена специфика внедрения мобильных технологий в атомной отрасли;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классифицированы виды мобильных приложений;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выявлены особенности разработки и эксплуатации корпора­тивных (enterprise) приложений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endParaRPr lang="ru-RU" sz="1800" b="0" u="none" strike="noStrike">
              <a:solidFill>
                <a:schemeClr val="dk1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 type="sldNum" idx="47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0C713863-997D-43FD-BC2A-C67A748FD9AB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0" name="Группа 4"/>
          <p:cNvGrpSpPr/>
          <p:nvPr/>
        </p:nvGrpSpPr>
        <p:grpSpPr>
          <a:xfrm>
            <a:off x="1800" y="620640"/>
            <a:ext cx="9108360" cy="862920"/>
            <a:chOff x="1800" y="620640"/>
            <a:chExt cx="9108360" cy="862920"/>
          </a:xfrm>
        </p:grpSpPr>
        <p:sp>
          <p:nvSpPr>
            <p:cNvPr id="171" name="Заголовок 1"/>
            <p:cNvSpPr/>
            <p:nvPr/>
          </p:nvSpPr>
          <p:spPr>
            <a:xfrm>
              <a:off x="1800" y="620640"/>
              <a:ext cx="8758440" cy="86292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24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Благодарю за внимание</a:t>
              </a:r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Равнобедренный треугольник 2"/>
            <p:cNvSpPr/>
            <p:nvPr/>
          </p:nvSpPr>
          <p:spPr>
            <a:xfrm rot="5400000">
              <a:off x="8504640" y="878040"/>
              <a:ext cx="86292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мирэа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Arial" pitchFamily="0" charset="1"/>
        <a:cs typeface="Arial" pitchFamily="0" charset="1"/>
      </a:majorFont>
      <a:minorFont>
        <a:latin typeface="Calibri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 мирэа</Template>
  <TotalTime>5818</TotalTime>
  <Application>LibreOffice/25.8.5.2$Linux_X86_64 LibreOffice_project/580$Build-2</Application>
  <AppVersion>15.0000</AppVersion>
  <Words>570</Words>
  <Paragraphs>175</Paragraphs>
  <Company>SPecialiST RePack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2021-10-31T11:10:39Z</dcterms:created>
  <dc:creator>Бергер ЕГ</dc:creator>
  <dc:description/>
  <dc:language>en-US</dc:language>
  <cp:lastModifiedBy/>
  <dcterms:modified xsi:type="dcterms:W3CDTF">2026-05-16T16:41:55Z</dcterms:modified>
  <cp:revision>121</cp:revision>
  <dc:subject/>
  <dc:title>Слайд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Экран (4:3)</vt:lpwstr>
  </property>
  <property fmtid="{D5CDD505-2E9C-101B-9397-08002B2CF9AE}" pid="4" name="Slides">
    <vt:i4>14</vt:i4>
  </property>
</Properties>
</file>