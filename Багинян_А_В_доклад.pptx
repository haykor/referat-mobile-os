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б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р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а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з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е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ц 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з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а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г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л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в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к</a:t>
            </a: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28560" y="1825560"/>
            <a:ext cx="38851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29240" y="1825560"/>
            <a:ext cx="38851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4800CB-CB84-47E9-8A59-D9C7B68F5E01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3000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30000" y="1681200"/>
            <a:ext cx="386712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30000" y="2505240"/>
            <a:ext cx="386712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29240" y="1681200"/>
            <a:ext cx="38862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29240" y="2505240"/>
            <a:ext cx="38862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32D8D7-E50F-4D71-9EE1-408E52E49F60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81404D-06E1-47B9-8AE0-94A7167AE128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0558DB-B1B9-4011-9C45-B3CA70E123FA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30000" y="457200"/>
            <a:ext cx="294804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887280" y="987480"/>
            <a:ext cx="462816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30000" y="2057400"/>
            <a:ext cx="294804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2380CB-8CB3-430D-BE9C-11BF49A4E72B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30000" y="457200"/>
            <a:ext cx="294804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887280" y="987480"/>
            <a:ext cx="462816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Вставка рисунка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30000" y="2057400"/>
            <a:ext cx="294804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F50047-157E-4C62-A7C2-A8B55591295A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143000" y="1122480"/>
            <a:ext cx="6856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45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9CED56-C6C9-4D1C-9A03-45F644FDB5EE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5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28560" y="1825560"/>
            <a:ext cx="78858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1A15A2-C626-47AB-9B88-3F9041DD7371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543720" y="365040"/>
            <a:ext cx="197064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28560" y="365040"/>
            <a:ext cx="579960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ED841B-01E6-4EFF-8CB0-4D6146369877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33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628560" y="1825560"/>
            <a:ext cx="78858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Второй уровень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Третий уровень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Четвертый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Calibri"/>
                <a:ea typeface="Arial"/>
              </a:rPr>
              <a:t>Пятый уровень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0A9857-732B-4C84-A2BD-B41907B4C483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23880" y="1709640"/>
            <a:ext cx="788580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4500" b="0" u="none" strike="noStrike">
                <a:solidFill>
                  <a:schemeClr val="dk1"/>
                </a:solidFill>
                <a:effectLst/>
                <a:uFillTx/>
                <a:latin typeface="Calibri Light"/>
                <a:ea typeface="Arial"/>
              </a:rPr>
              <a:t>Образец заголовка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23880" y="4589640"/>
            <a:ext cx="788580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Образец текста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62856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3029040" y="6356520"/>
            <a:ext cx="30852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2B79E5-F35E-430C-A469-0F42FEB75753}" type="slidenum">
              <a:rPr lang="ru-RU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61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62" name="Заголовок 1"/>
          <p:cNvSpPr/>
          <p:nvPr/>
        </p:nvSpPr>
        <p:spPr>
          <a:xfrm>
            <a:off x="0" y="2433600"/>
            <a:ext cx="9142920" cy="3874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Доклад на тему: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2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«Современные мобильные операционные системы, современные приложения и перспективы развития приложений для мобильных устройств разработки ИТ предприятий в Атомной Отрасли»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50000"/>
              </a:lnSpc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Студент группы ИКБО-50-25 </a:t>
            </a: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Багинян А.В..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50000"/>
              </a:lnSpc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Руководитель </a:t>
            </a: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Миронов А.И.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50000"/>
              </a:lnSpc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Консультант </a:t>
            </a:r>
            <a:r>
              <a:rPr lang="ru-RU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Рогоза В.М.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Заголовок 1"/>
          <p:cNvSpPr/>
          <p:nvPr/>
        </p:nvSpPr>
        <p:spPr>
          <a:xfrm>
            <a:off x="0" y="151200"/>
            <a:ext cx="9142920" cy="1836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МИНОБРНАУКИ РОССИИ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Федеральное государственное бюджетное образовательное учреждение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высшего образования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«МИРЭА – Российский технологический университет»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РТУ МИРЭА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Институт информационных технологий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ru-RU" sz="13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Кафедра  информационных технологий в атомной энергетике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Рисунок 10"/>
          <p:cNvPicPr/>
          <p:nvPr/>
        </p:nvPicPr>
        <p:blipFill>
          <a:blip r:embed="rId1"/>
          <a:stretch/>
        </p:blipFill>
        <p:spPr>
          <a:xfrm>
            <a:off x="107640" y="116640"/>
            <a:ext cx="1116360" cy="71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Рисунок 11"/>
          <p:cNvPicPr/>
          <p:nvPr/>
        </p:nvPicPr>
        <p:blipFill>
          <a:blip r:embed="rId2"/>
          <a:stretch/>
        </p:blipFill>
        <p:spPr>
          <a:xfrm>
            <a:off x="8231040" y="55440"/>
            <a:ext cx="804600" cy="88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67" name="Заголовок 1"/>
          <p:cNvSpPr/>
          <p:nvPr/>
        </p:nvSpPr>
        <p:spPr>
          <a:xfrm>
            <a:off x="444600" y="1268640"/>
            <a:ext cx="8361720" cy="48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Цель работы: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систематизированный анализ со­временного состояния мобильных операционных систем и приложений с акцентом на их применение в корпоративной и атомной отраслях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Задачи работы: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рассмотреть архитектуру и характеристики мобильных ОС;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проанализировать особенности применения мобильных ОС в корпо­ративной среде;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изучить специфику внедрения мобильных технологий в атомной отрасли;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классифицировать виды мобильных приложений;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выявить особенности разработки и эксплуатации корпора­тивных (enterprise) приложений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sldNum" idx="34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04677F46-1898-445A-8B1C-E360D5F8FF8D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69" name="Группа 4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70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Цели и задачи работы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Равнобедренный треугольник 2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sldNum" idx="35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509F1FF6-47B0-45CF-A082-E050F4898C3D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74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75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Глобальный рынок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77" name=""/>
          <p:cNvPicPr/>
          <p:nvPr/>
        </p:nvPicPr>
        <p:blipFill>
          <a:blip r:embed="rId1"/>
          <a:stretch/>
        </p:blipFill>
        <p:spPr>
          <a:xfrm>
            <a:off x="205200" y="1580760"/>
            <a:ext cx="8253000" cy="38538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78" name="Заголовок 2"/>
          <p:cNvSpPr/>
          <p:nvPr/>
        </p:nvSpPr>
        <p:spPr>
          <a:xfrm>
            <a:off x="228600" y="1040040"/>
            <a:ext cx="34405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72% Android · 28% iOS.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2637360" y="5435640"/>
            <a:ext cx="20235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StatCounter,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sldNum" idx="36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A27FD8A9-C92C-4A48-86E1-E8A06E45B514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82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83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Android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228600" y="764640"/>
            <a:ext cx="3733560" cy="54986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86" name=""/>
          <p:cNvSpPr/>
          <p:nvPr/>
        </p:nvSpPr>
        <p:spPr>
          <a:xfrm>
            <a:off x="844200" y="6172200"/>
            <a:ext cx="235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Архитектура Android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2"/>
          <a:srcRect l="18380" t="9322" r="20410" b="9073"/>
          <a:stretch/>
        </p:blipFill>
        <p:spPr>
          <a:xfrm>
            <a:off x="5943600" y="1143000"/>
            <a:ext cx="2513160" cy="482976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88" name=""/>
          <p:cNvSpPr/>
          <p:nvPr/>
        </p:nvSpPr>
        <p:spPr>
          <a:xfrm>
            <a:off x="6502320" y="5973480"/>
            <a:ext cx="1286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Android 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sldNum" idx="37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5555EBE6-E09B-49F5-B945-F119468D3208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91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92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iOS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94" name=""/>
          <p:cNvPicPr/>
          <p:nvPr/>
        </p:nvPicPr>
        <p:blipFill>
          <a:blip r:embed="rId1"/>
          <a:stretch/>
        </p:blipFill>
        <p:spPr>
          <a:xfrm rot="21595200">
            <a:off x="274320" y="916560"/>
            <a:ext cx="3007080" cy="53470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95" name=""/>
          <p:cNvSpPr/>
          <p:nvPr/>
        </p:nvSpPr>
        <p:spPr>
          <a:xfrm>
            <a:off x="793800" y="6266520"/>
            <a:ext cx="194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Архитектура iOS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"/>
          <p:cNvPicPr/>
          <p:nvPr/>
        </p:nvPicPr>
        <p:blipFill>
          <a:blip r:embed="rId2"/>
          <a:srcRect l="38116" t="2750" r="37375" b="5253"/>
          <a:stretch/>
        </p:blipFill>
        <p:spPr>
          <a:xfrm>
            <a:off x="5486760" y="914760"/>
            <a:ext cx="2056320" cy="43423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97" name=""/>
          <p:cNvSpPr/>
          <p:nvPr/>
        </p:nvSpPr>
        <p:spPr>
          <a:xfrm>
            <a:off x="6296400" y="5257080"/>
            <a:ext cx="561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sldNum" idx="38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A14D312B-755D-4AE9-A405-00F096ED5A87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00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01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Рынок ОС. Российские ОС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103" name=""/>
          <p:cNvPicPr/>
          <p:nvPr/>
        </p:nvPicPr>
        <p:blipFill>
          <a:blip r:embed="rId1"/>
          <a:stretch/>
        </p:blipFill>
        <p:spPr>
          <a:xfrm>
            <a:off x="228600" y="914400"/>
            <a:ext cx="8290080" cy="20674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pic>
        <p:nvPicPr>
          <p:cNvPr id="104" name=""/>
          <p:cNvPicPr/>
          <p:nvPr/>
        </p:nvPicPr>
        <p:blipFill>
          <a:blip r:embed="rId2"/>
          <a:stretch/>
        </p:blipFill>
        <p:spPr>
          <a:xfrm>
            <a:off x="228600" y="3200400"/>
            <a:ext cx="3974760" cy="25138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05" name=""/>
          <p:cNvSpPr/>
          <p:nvPr/>
        </p:nvSpPr>
        <p:spPr>
          <a:xfrm>
            <a:off x="1600200" y="5689080"/>
            <a:ext cx="1234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KvadraOS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"/>
          <p:cNvPicPr/>
          <p:nvPr/>
        </p:nvPicPr>
        <p:blipFill>
          <a:blip r:embed="rId3"/>
          <a:stretch/>
        </p:blipFill>
        <p:spPr>
          <a:xfrm>
            <a:off x="4343400" y="3200400"/>
            <a:ext cx="1400400" cy="29948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07" name=""/>
          <p:cNvSpPr/>
          <p:nvPr/>
        </p:nvSpPr>
        <p:spPr>
          <a:xfrm>
            <a:off x="4372920" y="6195960"/>
            <a:ext cx="1299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РЕД ОС 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"/>
          <p:cNvPicPr/>
          <p:nvPr/>
        </p:nvPicPr>
        <p:blipFill>
          <a:blip r:embed="rId4"/>
          <a:srcRect l="14738" t="18605" r="65239" b="19131"/>
          <a:stretch/>
        </p:blipFill>
        <p:spPr>
          <a:xfrm>
            <a:off x="5973480" y="3200760"/>
            <a:ext cx="1827720" cy="31993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09" name=""/>
          <p:cNvSpPr/>
          <p:nvPr/>
        </p:nvSpPr>
        <p:spPr>
          <a:xfrm>
            <a:off x="6203880" y="6400800"/>
            <a:ext cx="136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Аврора ОС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11" name="PlaceHolder 1"/>
          <p:cNvSpPr>
            <a:spLocks noGrp="1"/>
          </p:cNvSpPr>
          <p:nvPr>
            <p:ph type="sldNum" idx="39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8CBF645E-429D-4EAD-9313-CB82FC904614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12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13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Модели развертывания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15" name="Заголовок 3"/>
          <p:cNvSpPr/>
          <p:nvPr/>
        </p:nvSpPr>
        <p:spPr>
          <a:xfrm>
            <a:off x="444600" y="1269000"/>
            <a:ext cx="5727240" cy="12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BYOD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Bring Your Own Device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COPE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Corporate-Owned, Personally Enabled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COBO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Corporate-Owned, Business Only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"/>
          <p:cNvPicPr/>
          <p:nvPr/>
        </p:nvPicPr>
        <p:blipFill>
          <a:blip r:embed="rId1"/>
          <a:stretch/>
        </p:blipFill>
        <p:spPr>
          <a:xfrm>
            <a:off x="1371600" y="2514600"/>
            <a:ext cx="5676120" cy="33516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18" name="PlaceHolder 1"/>
          <p:cNvSpPr>
            <a:spLocks noGrp="1"/>
          </p:cNvSpPr>
          <p:nvPr>
            <p:ph type="sldNum" idx="40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530BD1A1-227D-40D4-9C44-D25FE4B04558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19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20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Аврора в корп. секторе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122" name=""/>
          <p:cNvPicPr/>
          <p:nvPr/>
        </p:nvPicPr>
        <p:blipFill>
          <a:blip r:embed="rId1"/>
          <a:stretch/>
        </p:blipFill>
        <p:spPr>
          <a:xfrm>
            <a:off x="228600" y="901440"/>
            <a:ext cx="3796920" cy="48132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23" name=""/>
          <p:cNvSpPr/>
          <p:nvPr/>
        </p:nvSpPr>
        <p:spPr>
          <a:xfrm>
            <a:off x="844560" y="5715000"/>
            <a:ext cx="2756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Архитектура Аврора ОС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Заголовок 4"/>
          <p:cNvSpPr/>
          <p:nvPr/>
        </p:nvSpPr>
        <p:spPr>
          <a:xfrm>
            <a:off x="4114800" y="1269000"/>
            <a:ext cx="435564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Единственная ОС с ФСТЭК+ФСБ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sldNum" idx="41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77E261AB-8C97-4E9F-882F-CC49CC5A8272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27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28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Атомная отрасль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30" name="Заголовок 5"/>
          <p:cNvSpPr/>
          <p:nvPr/>
        </p:nvSpPr>
        <p:spPr>
          <a:xfrm>
            <a:off x="673200" y="1000800"/>
            <a:ext cx="4584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Цифровые обходы оборудования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Электронные наряды-допуски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Интеграция с АСУ ТП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719640" y="2613600"/>
            <a:ext cx="5680800" cy="37868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sldNum" idx="42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F1B8755C-21F0-4CB8-BD80-02ABEF9E003F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34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35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Корпоративная среда. Требования КИИ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37" name="Заголовок 6"/>
          <p:cNvSpPr/>
          <p:nvPr/>
        </p:nvSpPr>
        <p:spPr>
          <a:xfrm>
            <a:off x="673200" y="1600200"/>
            <a:ext cx="4584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66"/>
              </a:buClr>
              <a:buFont typeface="Wingdings" charset="2"/>
              <a:buChar char="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физическая изоляция технологической сети от корпоративной и внешнего интернета (air gap)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1"/>
          <a:stretch/>
        </p:blipFill>
        <p:spPr>
          <a:xfrm>
            <a:off x="457200" y="3345120"/>
            <a:ext cx="6652080" cy="21409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39" name=""/>
          <p:cNvSpPr/>
          <p:nvPr/>
        </p:nvSpPr>
        <p:spPr>
          <a:xfrm>
            <a:off x="2307960" y="5486400"/>
            <a:ext cx="2492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Network Segmentation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41" name="PlaceHolder 1"/>
          <p:cNvSpPr>
            <a:spLocks noGrp="1"/>
          </p:cNvSpPr>
          <p:nvPr>
            <p:ph type="sldNum" idx="43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8A9859E7-5FA7-4434-938F-61287C8DDBBC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2" name="Группа 9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43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Приложения. Виды приложений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Равнобедренный треугольник 1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45" name="Заголовок 8"/>
          <p:cNvSpPr/>
          <p:nvPr/>
        </p:nvSpPr>
        <p:spPr>
          <a:xfrm>
            <a:off x="914400" y="1371600"/>
            <a:ext cx="4114440" cy="12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Нативные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Скорость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Кросс-платформа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Экономия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PWA — </a:t>
            </a: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Доступность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"/>
          <p:cNvPicPr/>
          <p:nvPr/>
        </p:nvPicPr>
        <p:blipFill>
          <a:blip r:embed="rId1"/>
          <a:stretch/>
        </p:blipFill>
        <p:spPr>
          <a:xfrm>
            <a:off x="891360" y="2971800"/>
            <a:ext cx="5509080" cy="30985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2531160" y="3549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endParaRPr lang="ru-RU" sz="2000" b="1" u="none" strike="noStrike">
              <a:solidFill>
                <a:srgbClr val="000000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sldNum" idx="44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E4348BBD-EB15-47FA-B66C-A8DF05821957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9" name="Группа 1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50" name="Заголовок 7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Приложения. Кросс-платформа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Равнобедренный треугольник 1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52" name=""/>
          <p:cNvSpPr/>
          <p:nvPr/>
        </p:nvSpPr>
        <p:spPr>
          <a:xfrm>
            <a:off x="3200400" y="4114800"/>
            <a:ext cx="2656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Основные фреймворки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tretch/>
        </p:blipFill>
        <p:spPr>
          <a:xfrm>
            <a:off x="589320" y="2192760"/>
            <a:ext cx="8097120" cy="19216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Num" idx="45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042779A6-8D50-4FB7-AB68-904E7D2B7468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55" name="Группа 2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56" name="Заголовок 9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Приложения. KMP и Аврора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Равнобедренный треугольник 3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pic>
        <p:nvPicPr>
          <p:cNvPr id="158" name=""/>
          <p:cNvPicPr/>
          <p:nvPr/>
        </p:nvPicPr>
        <p:blipFill>
          <a:blip r:embed="rId1"/>
          <a:stretch/>
        </p:blipFill>
        <p:spPr>
          <a:xfrm>
            <a:off x="0" y="893520"/>
            <a:ext cx="5257440" cy="239976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59" name=""/>
          <p:cNvSpPr/>
          <p:nvPr/>
        </p:nvSpPr>
        <p:spPr>
          <a:xfrm>
            <a:off x="685800" y="3293640"/>
            <a:ext cx="354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Типовой KMP проект с Авророй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"/>
          <p:cNvPicPr/>
          <p:nvPr/>
        </p:nvPicPr>
        <p:blipFill>
          <a:blip r:embed="rId2"/>
          <a:stretch/>
        </p:blipFill>
        <p:spPr>
          <a:xfrm>
            <a:off x="2743200" y="3666600"/>
            <a:ext cx="4528080" cy="22766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</p:pic>
      <p:sp>
        <p:nvSpPr>
          <p:cNvPr id="161" name=""/>
          <p:cNvSpPr/>
          <p:nvPr/>
        </p:nvSpPr>
        <p:spPr>
          <a:xfrm>
            <a:off x="3657600" y="5943600"/>
            <a:ext cx="2719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Структура KMP проекта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sldNum" idx="46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92498777-A748-4900-A656-FEA7577DB87C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64" name="Группа 4"/>
          <p:cNvGrpSpPr/>
          <p:nvPr/>
        </p:nvGrpSpPr>
        <p:grpSpPr>
          <a:xfrm>
            <a:off x="0" y="187920"/>
            <a:ext cx="9108360" cy="576000"/>
            <a:chOff x="0" y="187920"/>
            <a:chExt cx="9108360" cy="576000"/>
          </a:xfrm>
        </p:grpSpPr>
        <p:sp>
          <p:nvSpPr>
            <p:cNvPr id="165" name="Заголовок 1"/>
            <p:cNvSpPr/>
            <p:nvPr/>
          </p:nvSpPr>
          <p:spPr>
            <a:xfrm>
              <a:off x="0" y="188640"/>
              <a:ext cx="8758440" cy="57528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18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Заключение</a:t>
              </a: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Равнобедренный треугольник 2"/>
            <p:cNvSpPr/>
            <p:nvPr/>
          </p:nvSpPr>
          <p:spPr>
            <a:xfrm rot="5400000">
              <a:off x="8646840" y="301320"/>
              <a:ext cx="57528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  <p:sp>
        <p:nvSpPr>
          <p:cNvPr id="167" name="Заголовок 10"/>
          <p:cNvSpPr/>
          <p:nvPr/>
        </p:nvSpPr>
        <p:spPr>
          <a:xfrm>
            <a:off x="444600" y="1269000"/>
            <a:ext cx="8361720" cy="35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ru-RU" sz="2000" b="1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Выполнены поставленные задачи: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рассмотрена архитектура мобильных ОС;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проанализированы особенности применения мобильных ОС в корпо­ративной среде;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изучена специфика внедрения мобильных технологий в атомной отрасли;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классифицированы виды мобильных приложений;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spcAft>
                <a:spcPts val="601"/>
              </a:spcAft>
              <a:buClr>
                <a:srgbClr val="000066"/>
              </a:buClr>
              <a:buFont typeface="OpenSymbol"/>
              <a:buAutoNum type="arabicParenR"/>
              <a:tabLst>
                <a:tab algn="l" pos="0"/>
              </a:tabLst>
            </a:pPr>
            <a:r>
              <a:rPr lang="ru-RU" sz="2000" b="0" u="none" strike="noStrike">
                <a:solidFill>
                  <a:srgbClr val="000066"/>
                </a:solidFill>
                <a:effectLst/>
                <a:uFillTx/>
                <a:latin typeface="Arial"/>
                <a:ea typeface="Arial"/>
              </a:rPr>
              <a:t>выявлены особенности разработки и эксплуатации корпора­тивных (enterprise) приложений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2"/>
          <p:cNvSpPr/>
          <p:nvPr/>
        </p:nvSpPr>
        <p:spPr>
          <a:xfrm>
            <a:off x="1822320" y="2433600"/>
            <a:ext cx="560592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defTabSz="914400">
              <a:lnSpc>
                <a:spcPct val="100000"/>
              </a:lnSpc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Impact"/>
              <a:ea typeface="Arial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sldNum" idx="47"/>
          </p:nvPr>
        </p:nvSpPr>
        <p:spPr>
          <a:xfrm>
            <a:off x="8172360" y="6309360"/>
            <a:ext cx="502920" cy="411120"/>
          </a:xfrm>
          <a:prstGeom prst="rect">
            <a:avLst/>
          </a:prstGeom>
          <a:solidFill>
            <a:srgbClr val="0070c0"/>
          </a:solidFill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B610EB21-3AA6-4698-BDCE-DC7B4747489E}" type="slidenum">
              <a:rPr lang="ru-RU" sz="1360" b="1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rPr>
              <a:t>&lt;number&gt;</a:t>
            </a:fld>
            <a:endParaRPr lang="en-US" sz="136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0" name="Группа 4"/>
          <p:cNvGrpSpPr/>
          <p:nvPr/>
        </p:nvGrpSpPr>
        <p:grpSpPr>
          <a:xfrm>
            <a:off x="1800" y="620640"/>
            <a:ext cx="9108360" cy="862920"/>
            <a:chOff x="1800" y="620640"/>
            <a:chExt cx="9108360" cy="862920"/>
          </a:xfrm>
        </p:grpSpPr>
        <p:sp>
          <p:nvSpPr>
            <p:cNvPr id="171" name="Заголовок 1"/>
            <p:cNvSpPr/>
            <p:nvPr/>
          </p:nvSpPr>
          <p:spPr>
            <a:xfrm>
              <a:off x="1800" y="620640"/>
              <a:ext cx="8758440" cy="862920"/>
            </a:xfrm>
            <a:prstGeom prst="rect">
              <a:avLst/>
            </a:prstGeom>
            <a:solidFill>
              <a:srgbClr val="0070c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r>
                <a:rPr lang="ru-RU" sz="2400" b="0" u="none" strike="noStrike">
                  <a:solidFill>
                    <a:schemeClr val="lt1"/>
                  </a:solidFill>
                  <a:effectLst/>
                  <a:uFillTx/>
                  <a:latin typeface="Arial"/>
                  <a:ea typeface="Arial"/>
                </a:rPr>
                <a:t>Благодарю за внимание</a:t>
              </a:r>
              <a:endPara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Равнобедренный треугольник 2"/>
            <p:cNvSpPr/>
            <p:nvPr/>
          </p:nvSpPr>
          <p:spPr>
            <a:xfrm rot="5400000">
              <a:off x="8504640" y="878040"/>
              <a:ext cx="862920" cy="347760"/>
            </a:xfrm>
            <a:prstGeom prst="triangle">
              <a:avLst>
                <a:gd name="adj" fmla="val 50000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мирэа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Arial" pitchFamily="0" charset="1"/>
        <a:cs typeface="Arial" pitchFamily="0" charset="1"/>
      </a:majorFont>
      <a:minorFont>
        <a:latin typeface="Calibri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 мирэа</Template>
  <TotalTime>5972</TotalTime>
  <Application>LibreOffice/25.8.5.2$Linux_X86_64 LibreOffice_project/580$Build-2</Application>
  <AppVersion>15.0000</AppVersion>
  <Words>570</Words>
  <Paragraphs>175</Paragraphs>
  <Company>SPecialiST RePack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2021-10-31T11:10:39Z</dcterms:created>
  <dc:creator>Бергер ЕГ</dc:creator>
  <dc:description/>
  <dc:language>en-US</dc:language>
  <cp:lastModifiedBy/>
  <dcterms:modified xsi:type="dcterms:W3CDTF">2026-05-16T19:26:00Z</dcterms:modified>
  <cp:revision>122</cp:revision>
  <dc:subject/>
  <dc:title>Слайд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Экран (4:3)</vt:lpwstr>
  </property>
  <property fmtid="{D5CDD505-2E9C-101B-9397-08002B2CF9AE}" pid="4" name="Slides">
    <vt:i4>14</vt:i4>
  </property>
</Properties>
</file>