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543720" y="365040"/>
            <a:ext cx="1970280" cy="581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28560" y="365040"/>
            <a:ext cx="5799240" cy="581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Второй уровень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Третий уровень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Четвертый уровень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Пятый уровень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66AE6E3-4860-4418-9530-419C85269337}" type="slidenum"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44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544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Второй уровень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Третий уровень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Четвертый уровень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Пятый уровень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E5ADB1-1075-4639-81DE-182285860921}" type="slidenum"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544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5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788544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BA0CC5-F2AF-4995-B4A9-14B50FBB8C91}" type="slidenum"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44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</a:t>
            </a: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б</a:t>
            </a: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р</a:t>
            </a: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а</a:t>
            </a: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з</a:t>
            </a: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е</a:t>
            </a: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ц </a:t>
            </a: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з</a:t>
            </a: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а</a:t>
            </a: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г</a:t>
            </a: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</a:t>
            </a: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л</a:t>
            </a: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</a:t>
            </a: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в</a:t>
            </a: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к</a:t>
            </a: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а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38847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Второй уровень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Третий уровень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Четвертый уровень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Пятый уровень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29240" y="1825560"/>
            <a:ext cx="38847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Второй уровень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Третий уровень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Четвертый уровень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Пятый уровень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8D3149-A386-4E14-AC4D-F575B856B5CC}" type="slidenum"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30000" y="365040"/>
            <a:ext cx="788544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30000" y="1681200"/>
            <a:ext cx="386676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30000" y="2505240"/>
            <a:ext cx="3866760" cy="368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Второй уровень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Третий уровень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Четвертый уровень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Пятый уровень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29240" y="1681200"/>
            <a:ext cx="388584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29240" y="2505240"/>
            <a:ext cx="3885840" cy="368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Второй уровень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Третий уровень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Четвертый уровень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Пятый уровень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225AA7-7B19-4A0A-B3C5-45035B81F6C9}" type="slidenum"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44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191AF6-0293-4380-9A59-32FF6312A27C}" type="slidenum"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8764D8-226C-4A50-A762-39542C93E708}" type="slidenum"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30000" y="457200"/>
            <a:ext cx="294768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887280" y="987480"/>
            <a:ext cx="4627800" cy="487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Второй уровень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Третий уровень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Четвертый уровень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Пятый уровень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30000" y="2057400"/>
            <a:ext cx="294768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5EE864-4940-4927-9E8C-D1B8E17F9211}" type="slidenum"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30000" y="457200"/>
            <a:ext cx="294768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887280" y="987480"/>
            <a:ext cx="4627800" cy="487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Вставка рисунка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30000" y="2057400"/>
            <a:ext cx="294768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5D1FF2-7DF4-4AC4-8F66-B13E40CB3990}" type="slidenum"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143000" y="1122480"/>
            <a:ext cx="6856560" cy="238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5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DFD8F5E-B7C2-43C6-8027-AB705CF3ACDA}" type="slidenum"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1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44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544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Второй уровень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Третий уровень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Четвертый уровень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Пятый уровень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5FD7C7-9CC3-4376-A8EF-53781951799A}" type="slidenum"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2"/>
          <p:cNvSpPr/>
          <p:nvPr/>
        </p:nvSpPr>
        <p:spPr>
          <a:xfrm>
            <a:off x="1822320" y="243360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2000" b="1" u="none" strike="noStrike">
              <a:solidFill>
                <a:srgbClr val="000000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61" name="Rectangle 2"/>
          <p:cNvSpPr/>
          <p:nvPr/>
        </p:nvSpPr>
        <p:spPr>
          <a:xfrm>
            <a:off x="1822320" y="243360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2000" b="1" u="none" strike="noStrike">
              <a:solidFill>
                <a:srgbClr val="000000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62" name="Заголовок 1"/>
          <p:cNvSpPr/>
          <p:nvPr/>
        </p:nvSpPr>
        <p:spPr>
          <a:xfrm>
            <a:off x="0" y="2433600"/>
            <a:ext cx="9142560" cy="38743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Доклад на тему: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20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«Современные мобильные операционные системы, современные приложения и перспективы развития приложений для мобильных устройств разработки ИТ предприятий в Атомной Отрасли»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50000"/>
              </a:lnSpc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Студент группы ИКБО-50-25 </a:t>
            </a: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Багинян А.В.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50000"/>
              </a:lnSpc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Руководитель </a:t>
            </a: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Рогоза В.М.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Заголовок 1"/>
          <p:cNvSpPr/>
          <p:nvPr/>
        </p:nvSpPr>
        <p:spPr>
          <a:xfrm>
            <a:off x="0" y="151200"/>
            <a:ext cx="9142560" cy="1836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МИНОБРНАУКИ РОССИИ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Федеральное государственное бюджетное образовательное учреждение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высшего образования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«МИРЭА – Российский технологический университет»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РТУ МИРЭА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Институт информационных технологий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Кафедра  информационных технологий в атомной энергетике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Рисунок 10"/>
          <p:cNvPicPr/>
          <p:nvPr/>
        </p:nvPicPr>
        <p:blipFill>
          <a:blip r:embed="rId1"/>
          <a:stretch/>
        </p:blipFill>
        <p:spPr>
          <a:xfrm>
            <a:off x="107640" y="116640"/>
            <a:ext cx="1116000" cy="71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Рисунок 11"/>
          <p:cNvPicPr/>
          <p:nvPr/>
        </p:nvPicPr>
        <p:blipFill>
          <a:blip r:embed="rId2"/>
          <a:stretch/>
        </p:blipFill>
        <p:spPr>
          <a:xfrm>
            <a:off x="8231040" y="55440"/>
            <a:ext cx="804240" cy="889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2"/>
          <p:cNvSpPr/>
          <p:nvPr/>
        </p:nvSpPr>
        <p:spPr>
          <a:xfrm>
            <a:off x="1822320" y="243360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67" name="Заголовок 1"/>
          <p:cNvSpPr/>
          <p:nvPr/>
        </p:nvSpPr>
        <p:spPr>
          <a:xfrm>
            <a:off x="444600" y="1268640"/>
            <a:ext cx="8361360" cy="48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lang="ru-RU" sz="2000" b="1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Цель работы: </a:t>
            </a: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систематизированный анализ со­временного состояния мобильных операционных систем и приложений с акцентом на их применение в корпоративной и атомной отраслях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lang="ru-RU" sz="2000" b="1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Задачи работы: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Aft>
                <a:spcPts val="601"/>
              </a:spcAft>
              <a:buClr>
                <a:srgbClr val="000066"/>
              </a:buClr>
              <a:buFont typeface="OpenSymbol"/>
              <a:buAutoNum type="arabicParenR"/>
              <a:tabLst>
                <a:tab algn="l" pos="0"/>
              </a:tabLst>
            </a:pP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рассмотреть архитектуру и характеристики мобильных ОС;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Aft>
                <a:spcPts val="601"/>
              </a:spcAft>
              <a:buClr>
                <a:srgbClr val="000066"/>
              </a:buClr>
              <a:buFont typeface="OpenSymbol"/>
              <a:buAutoNum type="arabicParenR"/>
              <a:tabLst>
                <a:tab algn="l" pos="0"/>
              </a:tabLst>
            </a:pP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проанализировать особенности применения мобильных ОС в корпо­ративной среде;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Aft>
                <a:spcPts val="601"/>
              </a:spcAft>
              <a:buClr>
                <a:srgbClr val="000066"/>
              </a:buClr>
              <a:buFont typeface="OpenSymbol"/>
              <a:buAutoNum type="arabicParenR"/>
              <a:tabLst>
                <a:tab algn="l" pos="0"/>
              </a:tabLst>
            </a:pP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изучить специфику внедрения мобильных технологий в атомной отрасли;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Aft>
                <a:spcPts val="601"/>
              </a:spcAft>
              <a:buClr>
                <a:srgbClr val="000066"/>
              </a:buClr>
              <a:buFont typeface="OpenSymbol"/>
              <a:buAutoNum type="arabicParenR"/>
              <a:tabLst>
                <a:tab algn="l" pos="0"/>
              </a:tabLst>
            </a:pP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классифицировать виды мобильных приложений;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Aft>
                <a:spcPts val="601"/>
              </a:spcAft>
              <a:buClr>
                <a:srgbClr val="000066"/>
              </a:buClr>
              <a:buFont typeface="OpenSymbol"/>
              <a:buAutoNum type="arabicParenR"/>
              <a:tabLst>
                <a:tab algn="l" pos="0"/>
              </a:tabLst>
            </a:pP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выявить особенности разработки и эксплуатации корпора­тивных (enterprise) приложений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sldNum" idx="34"/>
          </p:nvPr>
        </p:nvSpPr>
        <p:spPr>
          <a:xfrm>
            <a:off x="8172360" y="6309360"/>
            <a:ext cx="502560" cy="4107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18814F82-2EB5-4369-B26D-B6AFE4BA9E92}" type="slidenum">
              <a: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3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69" name="Группа 4"/>
          <p:cNvGrpSpPr/>
          <p:nvPr/>
        </p:nvGrpSpPr>
        <p:grpSpPr>
          <a:xfrm>
            <a:off x="0" y="187560"/>
            <a:ext cx="9108360" cy="576000"/>
            <a:chOff x="0" y="187560"/>
            <a:chExt cx="9108360" cy="576000"/>
          </a:xfrm>
        </p:grpSpPr>
        <p:sp>
          <p:nvSpPr>
            <p:cNvPr id="70" name="Заголовок 1"/>
            <p:cNvSpPr/>
            <p:nvPr/>
          </p:nvSpPr>
          <p:spPr>
            <a:xfrm>
              <a:off x="0" y="188640"/>
              <a:ext cx="8758080" cy="574920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Цели и задачи работы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Равнобедренный треугольник 2"/>
            <p:cNvSpPr/>
            <p:nvPr/>
          </p:nvSpPr>
          <p:spPr>
            <a:xfrm rot="5400000">
              <a:off x="8647200" y="300960"/>
              <a:ext cx="574920" cy="3474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2"/>
          <p:cNvSpPr/>
          <p:nvPr/>
        </p:nvSpPr>
        <p:spPr>
          <a:xfrm>
            <a:off x="1822320" y="243360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2000" b="1" u="none" strike="noStrike">
              <a:solidFill>
                <a:srgbClr val="000000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sldNum" idx="35"/>
          </p:nvPr>
        </p:nvSpPr>
        <p:spPr>
          <a:xfrm>
            <a:off x="8172360" y="6309360"/>
            <a:ext cx="502560" cy="4107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E82C5DA9-F6AD-49B2-BFC8-F26DC431CF2A}" type="slidenum">
              <a: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3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74" name="Группа 9"/>
          <p:cNvGrpSpPr/>
          <p:nvPr/>
        </p:nvGrpSpPr>
        <p:grpSpPr>
          <a:xfrm>
            <a:off x="0" y="187560"/>
            <a:ext cx="9108360" cy="576000"/>
            <a:chOff x="0" y="187560"/>
            <a:chExt cx="9108360" cy="576000"/>
          </a:xfrm>
        </p:grpSpPr>
        <p:sp>
          <p:nvSpPr>
            <p:cNvPr id="75" name="Заголовок 1"/>
            <p:cNvSpPr/>
            <p:nvPr/>
          </p:nvSpPr>
          <p:spPr>
            <a:xfrm>
              <a:off x="0" y="188640"/>
              <a:ext cx="8758080" cy="574920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ru-RU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Рынок ОС. Глобальный рынок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Равнобедренный треугольник 11"/>
            <p:cNvSpPr/>
            <p:nvPr/>
          </p:nvSpPr>
          <p:spPr>
            <a:xfrm rot="5400000">
              <a:off x="8647200" y="300960"/>
              <a:ext cx="574920" cy="3474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pic>
        <p:nvPicPr>
          <p:cNvPr id="77" name=""/>
          <p:cNvPicPr/>
          <p:nvPr/>
        </p:nvPicPr>
        <p:blipFill>
          <a:blip r:embed="rId1"/>
          <a:stretch/>
        </p:blipFill>
        <p:spPr>
          <a:xfrm>
            <a:off x="205200" y="1580760"/>
            <a:ext cx="8252640" cy="385344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78" name="Заголовок 2"/>
          <p:cNvSpPr/>
          <p:nvPr/>
        </p:nvSpPr>
        <p:spPr>
          <a:xfrm>
            <a:off x="228600" y="1040040"/>
            <a:ext cx="344016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lang="ru-RU" sz="2000" b="1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72% Android · 28% iOS.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2637360" y="5435640"/>
            <a:ext cx="2023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StatCounter,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2"/>
          <p:cNvSpPr/>
          <p:nvPr/>
        </p:nvSpPr>
        <p:spPr>
          <a:xfrm>
            <a:off x="1822320" y="243360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2000" b="1" u="none" strike="noStrike">
              <a:solidFill>
                <a:srgbClr val="000000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sldNum" idx="36"/>
          </p:nvPr>
        </p:nvSpPr>
        <p:spPr>
          <a:xfrm>
            <a:off x="8172360" y="6309360"/>
            <a:ext cx="502560" cy="4107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F696566A-A605-44D4-BCE1-3E63CA837F9E}" type="slidenum">
              <a: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3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2" name="Группа 9"/>
          <p:cNvGrpSpPr/>
          <p:nvPr/>
        </p:nvGrpSpPr>
        <p:grpSpPr>
          <a:xfrm>
            <a:off x="0" y="187560"/>
            <a:ext cx="9108360" cy="576000"/>
            <a:chOff x="0" y="187560"/>
            <a:chExt cx="9108360" cy="576000"/>
          </a:xfrm>
        </p:grpSpPr>
        <p:sp>
          <p:nvSpPr>
            <p:cNvPr id="83" name="Заголовок 1"/>
            <p:cNvSpPr/>
            <p:nvPr/>
          </p:nvSpPr>
          <p:spPr>
            <a:xfrm>
              <a:off x="0" y="188640"/>
              <a:ext cx="8758080" cy="574920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Рынок ОС. Android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Равнобедренный треугольник 11"/>
            <p:cNvSpPr/>
            <p:nvPr/>
          </p:nvSpPr>
          <p:spPr>
            <a:xfrm rot="5400000">
              <a:off x="8647200" y="300960"/>
              <a:ext cx="574920" cy="3474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228600" y="764640"/>
            <a:ext cx="3733200" cy="54982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86" name=""/>
          <p:cNvSpPr/>
          <p:nvPr/>
        </p:nvSpPr>
        <p:spPr>
          <a:xfrm>
            <a:off x="844200" y="6172200"/>
            <a:ext cx="2355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Архитектура Android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"/>
          <p:cNvPicPr/>
          <p:nvPr/>
        </p:nvPicPr>
        <p:blipFill>
          <a:blip r:embed="rId2"/>
          <a:srcRect l="18380" t="9322" r="20410" b="9073"/>
          <a:stretch/>
        </p:blipFill>
        <p:spPr>
          <a:xfrm>
            <a:off x="5943600" y="1143000"/>
            <a:ext cx="2512800" cy="48294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88" name=""/>
          <p:cNvSpPr/>
          <p:nvPr/>
        </p:nvSpPr>
        <p:spPr>
          <a:xfrm>
            <a:off x="6502320" y="5973480"/>
            <a:ext cx="1285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Android 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2"/>
          <p:cNvSpPr/>
          <p:nvPr/>
        </p:nvSpPr>
        <p:spPr>
          <a:xfrm>
            <a:off x="1822320" y="243360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2000" b="1" u="none" strike="noStrike">
              <a:solidFill>
                <a:srgbClr val="000000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sldNum" idx="37"/>
          </p:nvPr>
        </p:nvSpPr>
        <p:spPr>
          <a:xfrm>
            <a:off x="8172360" y="6309360"/>
            <a:ext cx="502560" cy="4107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67E12B0D-3D5B-4C93-9E68-F34CC6420D17}" type="slidenum">
              <a: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3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1" name="Группа 9"/>
          <p:cNvGrpSpPr/>
          <p:nvPr/>
        </p:nvGrpSpPr>
        <p:grpSpPr>
          <a:xfrm>
            <a:off x="0" y="187560"/>
            <a:ext cx="9108360" cy="576000"/>
            <a:chOff x="0" y="187560"/>
            <a:chExt cx="9108360" cy="576000"/>
          </a:xfrm>
        </p:grpSpPr>
        <p:sp>
          <p:nvSpPr>
            <p:cNvPr id="92" name="Заголовок 1"/>
            <p:cNvSpPr/>
            <p:nvPr/>
          </p:nvSpPr>
          <p:spPr>
            <a:xfrm>
              <a:off x="0" y="188640"/>
              <a:ext cx="8758080" cy="574920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Рынок ОС. iOS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Равнобедренный треугольник 11"/>
            <p:cNvSpPr/>
            <p:nvPr/>
          </p:nvSpPr>
          <p:spPr>
            <a:xfrm rot="5400000">
              <a:off x="8647200" y="300960"/>
              <a:ext cx="574920" cy="3474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pic>
        <p:nvPicPr>
          <p:cNvPr id="94" name=""/>
          <p:cNvPicPr/>
          <p:nvPr/>
        </p:nvPicPr>
        <p:blipFill>
          <a:blip r:embed="rId1"/>
          <a:stretch/>
        </p:blipFill>
        <p:spPr>
          <a:xfrm rot="21595200">
            <a:off x="274320" y="916560"/>
            <a:ext cx="3006720" cy="53467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95" name=""/>
          <p:cNvSpPr/>
          <p:nvPr/>
        </p:nvSpPr>
        <p:spPr>
          <a:xfrm>
            <a:off x="793800" y="6266520"/>
            <a:ext cx="1948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Архитектура iOS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"/>
          <p:cNvPicPr/>
          <p:nvPr/>
        </p:nvPicPr>
        <p:blipFill>
          <a:blip r:embed="rId2"/>
          <a:srcRect l="38116" t="2750" r="37375" b="5253"/>
          <a:stretch/>
        </p:blipFill>
        <p:spPr>
          <a:xfrm>
            <a:off x="5486760" y="914760"/>
            <a:ext cx="2514240" cy="506124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97" name=""/>
          <p:cNvSpPr/>
          <p:nvPr/>
        </p:nvSpPr>
        <p:spPr>
          <a:xfrm>
            <a:off x="6476760" y="5976360"/>
            <a:ext cx="561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2"/>
          <p:cNvSpPr/>
          <p:nvPr/>
        </p:nvSpPr>
        <p:spPr>
          <a:xfrm>
            <a:off x="1822320" y="243360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2000" b="1" u="none" strike="noStrike">
              <a:solidFill>
                <a:srgbClr val="000000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sldNum" idx="38"/>
          </p:nvPr>
        </p:nvSpPr>
        <p:spPr>
          <a:xfrm>
            <a:off x="8172360" y="6309360"/>
            <a:ext cx="502560" cy="4107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CD0C9AC9-A50F-4FF1-AA71-803309E1D8DF}" type="slidenum">
              <a: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3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0" name="Группа 9"/>
          <p:cNvGrpSpPr/>
          <p:nvPr/>
        </p:nvGrpSpPr>
        <p:grpSpPr>
          <a:xfrm>
            <a:off x="0" y="187560"/>
            <a:ext cx="9108360" cy="576000"/>
            <a:chOff x="0" y="187560"/>
            <a:chExt cx="9108360" cy="576000"/>
          </a:xfrm>
        </p:grpSpPr>
        <p:sp>
          <p:nvSpPr>
            <p:cNvPr id="101" name="Заголовок 1"/>
            <p:cNvSpPr/>
            <p:nvPr/>
          </p:nvSpPr>
          <p:spPr>
            <a:xfrm>
              <a:off x="0" y="188640"/>
              <a:ext cx="8758080" cy="574920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Рынок ОС. Российские ОС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Равнобедренный треугольник 11"/>
            <p:cNvSpPr/>
            <p:nvPr/>
          </p:nvSpPr>
          <p:spPr>
            <a:xfrm rot="5400000">
              <a:off x="8647200" y="300960"/>
              <a:ext cx="574920" cy="3474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pic>
        <p:nvPicPr>
          <p:cNvPr id="103" name=""/>
          <p:cNvPicPr/>
          <p:nvPr/>
        </p:nvPicPr>
        <p:blipFill>
          <a:blip r:embed="rId1"/>
          <a:stretch/>
        </p:blipFill>
        <p:spPr>
          <a:xfrm>
            <a:off x="228600" y="914400"/>
            <a:ext cx="8289720" cy="20671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pic>
        <p:nvPicPr>
          <p:cNvPr id="104" name=""/>
          <p:cNvPicPr/>
          <p:nvPr/>
        </p:nvPicPr>
        <p:blipFill>
          <a:blip r:embed="rId2"/>
          <a:stretch/>
        </p:blipFill>
        <p:spPr>
          <a:xfrm>
            <a:off x="228600" y="3200400"/>
            <a:ext cx="3974400" cy="25135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105" name=""/>
          <p:cNvSpPr/>
          <p:nvPr/>
        </p:nvSpPr>
        <p:spPr>
          <a:xfrm>
            <a:off x="1600200" y="5689080"/>
            <a:ext cx="1234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KvadraOS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"/>
          <p:cNvPicPr/>
          <p:nvPr/>
        </p:nvPicPr>
        <p:blipFill>
          <a:blip r:embed="rId3"/>
          <a:stretch/>
        </p:blipFill>
        <p:spPr>
          <a:xfrm>
            <a:off x="4343400" y="3200400"/>
            <a:ext cx="1400040" cy="29944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107" name=""/>
          <p:cNvSpPr/>
          <p:nvPr/>
        </p:nvSpPr>
        <p:spPr>
          <a:xfrm>
            <a:off x="4372920" y="6195960"/>
            <a:ext cx="1299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РЕД ОС 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"/>
          <p:cNvPicPr/>
          <p:nvPr/>
        </p:nvPicPr>
        <p:blipFill>
          <a:blip r:embed="rId4"/>
          <a:srcRect l="14736" t="18601" r="65233" b="19127"/>
          <a:stretch/>
        </p:blipFill>
        <p:spPr>
          <a:xfrm>
            <a:off x="5973480" y="3200760"/>
            <a:ext cx="1827360" cy="319896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109" name=""/>
          <p:cNvSpPr/>
          <p:nvPr/>
        </p:nvSpPr>
        <p:spPr>
          <a:xfrm>
            <a:off x="6203880" y="6400800"/>
            <a:ext cx="1368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Аврора ОС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2"/>
          <p:cNvSpPr/>
          <p:nvPr/>
        </p:nvSpPr>
        <p:spPr>
          <a:xfrm>
            <a:off x="1822320" y="243360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2000" b="1" u="none" strike="noStrike">
              <a:solidFill>
                <a:srgbClr val="000000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sldNum" idx="39"/>
          </p:nvPr>
        </p:nvSpPr>
        <p:spPr>
          <a:xfrm>
            <a:off x="8172360" y="6309360"/>
            <a:ext cx="502560" cy="4107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76EDA33C-289C-4F52-8B8E-7138DA9BFFBC}" type="slidenum">
              <a: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3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2" name="Группа 9"/>
          <p:cNvGrpSpPr/>
          <p:nvPr/>
        </p:nvGrpSpPr>
        <p:grpSpPr>
          <a:xfrm>
            <a:off x="0" y="187560"/>
            <a:ext cx="9108360" cy="576000"/>
            <a:chOff x="0" y="187560"/>
            <a:chExt cx="9108360" cy="576000"/>
          </a:xfrm>
        </p:grpSpPr>
        <p:sp>
          <p:nvSpPr>
            <p:cNvPr id="113" name="Заголовок 1"/>
            <p:cNvSpPr/>
            <p:nvPr/>
          </p:nvSpPr>
          <p:spPr>
            <a:xfrm>
              <a:off x="0" y="188640"/>
              <a:ext cx="8758080" cy="574920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Корпоративная среда. Модели развертывания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Равнобедренный треугольник 11"/>
            <p:cNvSpPr/>
            <p:nvPr/>
          </p:nvSpPr>
          <p:spPr>
            <a:xfrm rot="5400000">
              <a:off x="8647200" y="300960"/>
              <a:ext cx="574920" cy="3474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sp>
        <p:nvSpPr>
          <p:cNvPr id="115" name="Заголовок 3"/>
          <p:cNvSpPr/>
          <p:nvPr/>
        </p:nvSpPr>
        <p:spPr>
          <a:xfrm>
            <a:off x="444600" y="1269000"/>
            <a:ext cx="5726880" cy="12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lang="ru-RU" sz="2000" b="1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BYOD — </a:t>
            </a: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Bring Your Own Device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lang="ru-RU" sz="2000" b="1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COPE — </a:t>
            </a: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Corporate-Owned, Personally Enabled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lang="ru-RU" sz="2000" b="1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COBO — </a:t>
            </a: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Corporate-Owned, Business Only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"/>
          <p:cNvPicPr/>
          <p:nvPr/>
        </p:nvPicPr>
        <p:blipFill>
          <a:blip r:embed="rId1"/>
          <a:stretch/>
        </p:blipFill>
        <p:spPr>
          <a:xfrm>
            <a:off x="1371600" y="2514600"/>
            <a:ext cx="5675760" cy="335124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2"/>
          <p:cNvSpPr/>
          <p:nvPr/>
        </p:nvSpPr>
        <p:spPr>
          <a:xfrm>
            <a:off x="1822320" y="243360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2000" b="1" u="none" strike="noStrike">
              <a:solidFill>
                <a:srgbClr val="000000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sldNum" idx="40"/>
          </p:nvPr>
        </p:nvSpPr>
        <p:spPr>
          <a:xfrm>
            <a:off x="8172360" y="6309360"/>
            <a:ext cx="502560" cy="4107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09F9836B-3F37-4315-AF7D-88AAE3FB821E}" type="slidenum">
              <a: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3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9" name="Группа 9"/>
          <p:cNvGrpSpPr/>
          <p:nvPr/>
        </p:nvGrpSpPr>
        <p:grpSpPr>
          <a:xfrm>
            <a:off x="0" y="187560"/>
            <a:ext cx="9108360" cy="576000"/>
            <a:chOff x="0" y="187560"/>
            <a:chExt cx="9108360" cy="576000"/>
          </a:xfrm>
        </p:grpSpPr>
        <p:sp>
          <p:nvSpPr>
            <p:cNvPr id="120" name="Заголовок 1"/>
            <p:cNvSpPr/>
            <p:nvPr/>
          </p:nvSpPr>
          <p:spPr>
            <a:xfrm>
              <a:off x="0" y="188640"/>
              <a:ext cx="8758080" cy="574920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Корпоративная среда. Аврора в корп. секторе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Равнобедренный треугольник 11"/>
            <p:cNvSpPr/>
            <p:nvPr/>
          </p:nvSpPr>
          <p:spPr>
            <a:xfrm rot="5400000">
              <a:off x="8647200" y="300960"/>
              <a:ext cx="574920" cy="3474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pic>
        <p:nvPicPr>
          <p:cNvPr id="122" name=""/>
          <p:cNvPicPr/>
          <p:nvPr/>
        </p:nvPicPr>
        <p:blipFill>
          <a:blip r:embed="rId1"/>
          <a:stretch/>
        </p:blipFill>
        <p:spPr>
          <a:xfrm>
            <a:off x="228600" y="901440"/>
            <a:ext cx="3796560" cy="481284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123" name=""/>
          <p:cNvSpPr/>
          <p:nvPr/>
        </p:nvSpPr>
        <p:spPr>
          <a:xfrm>
            <a:off x="844560" y="5715000"/>
            <a:ext cx="2756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Архитектура Аврора ОС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Заголовок 4"/>
          <p:cNvSpPr/>
          <p:nvPr/>
        </p:nvSpPr>
        <p:spPr>
          <a:xfrm>
            <a:off x="4114800" y="1269000"/>
            <a:ext cx="435528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defTabSz="914400">
              <a:lnSpc>
                <a:spcPct val="100000"/>
              </a:lnSpc>
              <a:spcAft>
                <a:spcPts val="601"/>
              </a:spcAft>
              <a:buClr>
                <a:srgbClr val="000066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Единственная ОС с ФСТЭК+ФСБ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2"/>
          <p:cNvSpPr/>
          <p:nvPr/>
        </p:nvSpPr>
        <p:spPr>
          <a:xfrm>
            <a:off x="1822320" y="243360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2000" b="1" u="none" strike="noStrike">
              <a:solidFill>
                <a:srgbClr val="000000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sldNum" idx="41"/>
          </p:nvPr>
        </p:nvSpPr>
        <p:spPr>
          <a:xfrm>
            <a:off x="8172360" y="6309360"/>
            <a:ext cx="502560" cy="4107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7F6D3447-8035-4E56-8686-0ACB9D210D04}" type="slidenum">
              <a: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3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7" name="Группа 9"/>
          <p:cNvGrpSpPr/>
          <p:nvPr/>
        </p:nvGrpSpPr>
        <p:grpSpPr>
          <a:xfrm>
            <a:off x="0" y="187560"/>
            <a:ext cx="9108360" cy="576000"/>
            <a:chOff x="0" y="187560"/>
            <a:chExt cx="9108360" cy="576000"/>
          </a:xfrm>
        </p:grpSpPr>
        <p:sp>
          <p:nvSpPr>
            <p:cNvPr id="128" name="Заголовок 1"/>
            <p:cNvSpPr/>
            <p:nvPr/>
          </p:nvSpPr>
          <p:spPr>
            <a:xfrm>
              <a:off x="0" y="188640"/>
              <a:ext cx="8758080" cy="574920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Корпоративная среда. Атомная отрасль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Равнобедренный треугольник 11"/>
            <p:cNvSpPr/>
            <p:nvPr/>
          </p:nvSpPr>
          <p:spPr>
            <a:xfrm rot="5400000">
              <a:off x="8647200" y="300960"/>
              <a:ext cx="574920" cy="3474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sp>
        <p:nvSpPr>
          <p:cNvPr id="130" name="Заголовок 5"/>
          <p:cNvSpPr/>
          <p:nvPr/>
        </p:nvSpPr>
        <p:spPr>
          <a:xfrm>
            <a:off x="673200" y="1000800"/>
            <a:ext cx="45838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66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Цифровые обходы оборудования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66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Электронные наряды-допуски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66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Интеграция с АСУ ТП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"/>
          <p:cNvPicPr/>
          <p:nvPr/>
        </p:nvPicPr>
        <p:blipFill>
          <a:blip r:embed="rId1"/>
          <a:stretch/>
        </p:blipFill>
        <p:spPr>
          <a:xfrm>
            <a:off x="719640" y="2613600"/>
            <a:ext cx="5680440" cy="37864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2"/>
          <p:cNvSpPr/>
          <p:nvPr/>
        </p:nvSpPr>
        <p:spPr>
          <a:xfrm>
            <a:off x="1822320" y="243360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2000" b="1" u="none" strike="noStrike">
              <a:solidFill>
                <a:srgbClr val="000000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sldNum" idx="42"/>
          </p:nvPr>
        </p:nvSpPr>
        <p:spPr>
          <a:xfrm>
            <a:off x="8172360" y="6309360"/>
            <a:ext cx="502560" cy="4107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E82A49C8-06B2-4247-A551-2F3C42528AE5}" type="slidenum">
              <a: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3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34" name="Группа 9"/>
          <p:cNvGrpSpPr/>
          <p:nvPr/>
        </p:nvGrpSpPr>
        <p:grpSpPr>
          <a:xfrm>
            <a:off x="0" y="187560"/>
            <a:ext cx="9108360" cy="576000"/>
            <a:chOff x="0" y="187560"/>
            <a:chExt cx="9108360" cy="576000"/>
          </a:xfrm>
        </p:grpSpPr>
        <p:sp>
          <p:nvSpPr>
            <p:cNvPr id="135" name="Заголовок 1"/>
            <p:cNvSpPr/>
            <p:nvPr/>
          </p:nvSpPr>
          <p:spPr>
            <a:xfrm>
              <a:off x="0" y="188640"/>
              <a:ext cx="8758080" cy="574920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Корпоративная среда. Требования КИИ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Равнобедренный треугольник 11"/>
            <p:cNvSpPr/>
            <p:nvPr/>
          </p:nvSpPr>
          <p:spPr>
            <a:xfrm rot="5400000">
              <a:off x="8647200" y="300960"/>
              <a:ext cx="574920" cy="3474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sp>
        <p:nvSpPr>
          <p:cNvPr id="137" name="Заголовок 6"/>
          <p:cNvSpPr/>
          <p:nvPr/>
        </p:nvSpPr>
        <p:spPr>
          <a:xfrm>
            <a:off x="673200" y="1600200"/>
            <a:ext cx="45838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66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физическая изоляция технологической сети от корпоративной и внешнего интернета (air gap)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"/>
          <p:cNvPicPr/>
          <p:nvPr/>
        </p:nvPicPr>
        <p:blipFill>
          <a:blip r:embed="rId1"/>
          <a:stretch/>
        </p:blipFill>
        <p:spPr>
          <a:xfrm>
            <a:off x="457200" y="3345120"/>
            <a:ext cx="6651720" cy="214056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139" name=""/>
          <p:cNvSpPr/>
          <p:nvPr/>
        </p:nvSpPr>
        <p:spPr>
          <a:xfrm>
            <a:off x="2307960" y="5486400"/>
            <a:ext cx="2492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Network Segmentation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2"/>
          <p:cNvSpPr/>
          <p:nvPr/>
        </p:nvSpPr>
        <p:spPr>
          <a:xfrm>
            <a:off x="1822320" y="243360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lang="ru-RU" sz="2000" b="1" u="none" strike="noStrike">
              <a:solidFill>
                <a:srgbClr val="000000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sldNum" idx="43"/>
          </p:nvPr>
        </p:nvSpPr>
        <p:spPr>
          <a:xfrm>
            <a:off x="8172360" y="6309360"/>
            <a:ext cx="502560" cy="4107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1D12E2CE-C7C6-448F-AFC3-F71CF2FAB98F}" type="slidenum">
              <a: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3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42" name="Группа 9"/>
          <p:cNvGrpSpPr/>
          <p:nvPr/>
        </p:nvGrpSpPr>
        <p:grpSpPr>
          <a:xfrm>
            <a:off x="0" y="187560"/>
            <a:ext cx="9108360" cy="576000"/>
            <a:chOff x="0" y="187560"/>
            <a:chExt cx="9108360" cy="576000"/>
          </a:xfrm>
        </p:grpSpPr>
        <p:sp>
          <p:nvSpPr>
            <p:cNvPr id="143" name="Заголовок 1"/>
            <p:cNvSpPr/>
            <p:nvPr/>
          </p:nvSpPr>
          <p:spPr>
            <a:xfrm>
              <a:off x="0" y="188640"/>
              <a:ext cx="8758080" cy="574920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Приложения. Виды приложений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Равнобедренный треугольник 11"/>
            <p:cNvSpPr/>
            <p:nvPr/>
          </p:nvSpPr>
          <p:spPr>
            <a:xfrm rot="5400000">
              <a:off x="8647200" y="300960"/>
              <a:ext cx="574920" cy="3474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sp>
        <p:nvSpPr>
          <p:cNvPr id="145" name="Заголовок 8"/>
          <p:cNvSpPr/>
          <p:nvPr/>
        </p:nvSpPr>
        <p:spPr>
          <a:xfrm>
            <a:off x="914400" y="1371600"/>
            <a:ext cx="4114080" cy="12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lang="ru-RU" sz="2000" b="1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Нативные — </a:t>
            </a: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Скорость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lang="ru-RU" sz="2000" b="1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Кросс-платформа — </a:t>
            </a: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Экономия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lang="ru-RU" sz="2000" b="1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PWA — </a:t>
            </a: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Доступность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"/>
          <p:cNvPicPr/>
          <p:nvPr/>
        </p:nvPicPr>
        <p:blipFill>
          <a:blip r:embed="rId1"/>
          <a:stretch/>
        </p:blipFill>
        <p:spPr>
          <a:xfrm>
            <a:off x="891360" y="2971800"/>
            <a:ext cx="5508720" cy="309816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3"/>
          <p:cNvSpPr/>
          <p:nvPr/>
        </p:nvSpPr>
        <p:spPr>
          <a:xfrm>
            <a:off x="2531160" y="354960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endParaRPr lang="ru-RU" sz="2000" b="1" u="none" strike="noStrike">
              <a:solidFill>
                <a:srgbClr val="000000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sldNum" idx="44"/>
          </p:nvPr>
        </p:nvSpPr>
        <p:spPr>
          <a:xfrm>
            <a:off x="8172360" y="6309360"/>
            <a:ext cx="502560" cy="4107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71A94ED7-9407-45A8-9A29-D2ECE6BD14E8}" type="slidenum">
              <a: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3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49" name="Группа 3"/>
          <p:cNvGrpSpPr/>
          <p:nvPr/>
        </p:nvGrpSpPr>
        <p:grpSpPr>
          <a:xfrm>
            <a:off x="0" y="187560"/>
            <a:ext cx="9108360" cy="576000"/>
            <a:chOff x="0" y="187560"/>
            <a:chExt cx="9108360" cy="576000"/>
          </a:xfrm>
        </p:grpSpPr>
        <p:sp>
          <p:nvSpPr>
            <p:cNvPr id="150" name="Заголовок 11"/>
            <p:cNvSpPr/>
            <p:nvPr/>
          </p:nvSpPr>
          <p:spPr>
            <a:xfrm>
              <a:off x="0" y="188640"/>
              <a:ext cx="8758080" cy="574920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Приложения. Нативные решения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Равнобедренный треугольник 4"/>
            <p:cNvSpPr/>
            <p:nvPr/>
          </p:nvSpPr>
          <p:spPr>
            <a:xfrm rot="5400000">
              <a:off x="8647200" y="300960"/>
              <a:ext cx="574920" cy="3474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sp>
        <p:nvSpPr>
          <p:cNvPr id="152" name=""/>
          <p:cNvSpPr/>
          <p:nvPr/>
        </p:nvSpPr>
        <p:spPr>
          <a:xfrm>
            <a:off x="3200400" y="4114800"/>
            <a:ext cx="2656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Основные фреймворки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"/>
          <p:cNvPicPr/>
          <p:nvPr/>
        </p:nvPicPr>
        <p:blipFill>
          <a:blip r:embed="rId1"/>
          <a:stretch/>
        </p:blipFill>
        <p:spPr>
          <a:xfrm>
            <a:off x="870840" y="2057400"/>
            <a:ext cx="7587360" cy="20574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4"/>
          <p:cNvSpPr/>
          <p:nvPr/>
        </p:nvSpPr>
        <p:spPr>
          <a:xfrm>
            <a:off x="2531160" y="354960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endParaRPr lang="ru-RU" sz="2000" b="1" u="none" strike="noStrike">
              <a:solidFill>
                <a:srgbClr val="000000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sldNum" idx="45"/>
          </p:nvPr>
        </p:nvSpPr>
        <p:spPr>
          <a:xfrm>
            <a:off x="8172360" y="6309360"/>
            <a:ext cx="502560" cy="4107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AE5B3C1A-2F7C-49EA-8275-A4BDAAFE2FDC}" type="slidenum">
              <a: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3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56" name="Группа 5"/>
          <p:cNvGrpSpPr/>
          <p:nvPr/>
        </p:nvGrpSpPr>
        <p:grpSpPr>
          <a:xfrm>
            <a:off x="0" y="187560"/>
            <a:ext cx="9108360" cy="576000"/>
            <a:chOff x="0" y="187560"/>
            <a:chExt cx="9108360" cy="576000"/>
          </a:xfrm>
        </p:grpSpPr>
        <p:sp>
          <p:nvSpPr>
            <p:cNvPr id="157" name="Заголовок 12"/>
            <p:cNvSpPr/>
            <p:nvPr/>
          </p:nvSpPr>
          <p:spPr>
            <a:xfrm>
              <a:off x="0" y="188640"/>
              <a:ext cx="8758080" cy="574920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Приложения. Нативные решения. Сравнение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Равнобедренный треугольник 5"/>
            <p:cNvSpPr/>
            <p:nvPr/>
          </p:nvSpPr>
          <p:spPr>
            <a:xfrm rot="5400000">
              <a:off x="8647200" y="300960"/>
              <a:ext cx="574920" cy="3474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pic>
        <p:nvPicPr>
          <p:cNvPr id="159" name=""/>
          <p:cNvPicPr/>
          <p:nvPr/>
        </p:nvPicPr>
        <p:blipFill>
          <a:blip r:embed="rId1"/>
          <a:stretch/>
        </p:blipFill>
        <p:spPr>
          <a:xfrm>
            <a:off x="685800" y="914400"/>
            <a:ext cx="7991280" cy="50526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2445840" y="395892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lang="ru-RU" sz="2000" b="1" u="none" strike="noStrike">
              <a:solidFill>
                <a:srgbClr val="000000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sldNum" idx="46"/>
          </p:nvPr>
        </p:nvSpPr>
        <p:spPr>
          <a:xfrm>
            <a:off x="8172360" y="6309360"/>
            <a:ext cx="502560" cy="4107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53232617-6D32-47E9-9AED-067B8E72F2EF}" type="slidenum">
              <a: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3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62" name="Группа 1"/>
          <p:cNvGrpSpPr/>
          <p:nvPr/>
        </p:nvGrpSpPr>
        <p:grpSpPr>
          <a:xfrm>
            <a:off x="0" y="187560"/>
            <a:ext cx="9108360" cy="576000"/>
            <a:chOff x="0" y="187560"/>
            <a:chExt cx="9108360" cy="576000"/>
          </a:xfrm>
        </p:grpSpPr>
        <p:sp>
          <p:nvSpPr>
            <p:cNvPr id="163" name="Заголовок 7"/>
            <p:cNvSpPr/>
            <p:nvPr/>
          </p:nvSpPr>
          <p:spPr>
            <a:xfrm>
              <a:off x="0" y="188640"/>
              <a:ext cx="8758080" cy="574920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Приложения. Кросс-платформа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Равнобедренный треугольник 1"/>
            <p:cNvSpPr/>
            <p:nvPr/>
          </p:nvSpPr>
          <p:spPr>
            <a:xfrm rot="5400000">
              <a:off x="8647200" y="300960"/>
              <a:ext cx="574920" cy="3474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sp>
        <p:nvSpPr>
          <p:cNvPr id="165" name=""/>
          <p:cNvSpPr/>
          <p:nvPr/>
        </p:nvSpPr>
        <p:spPr>
          <a:xfrm>
            <a:off x="3115080" y="4524120"/>
            <a:ext cx="2656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Основные фреймворки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"/>
          <p:cNvPicPr/>
          <p:nvPr/>
        </p:nvPicPr>
        <p:blipFill>
          <a:blip r:embed="rId1"/>
          <a:stretch/>
        </p:blipFill>
        <p:spPr>
          <a:xfrm>
            <a:off x="1057680" y="1600200"/>
            <a:ext cx="7171920" cy="29239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5"/>
          <p:cNvSpPr/>
          <p:nvPr/>
        </p:nvSpPr>
        <p:spPr>
          <a:xfrm>
            <a:off x="2531160" y="354960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endParaRPr lang="ru-RU" sz="2000" b="1" u="none" strike="noStrike">
              <a:solidFill>
                <a:srgbClr val="000000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sldNum" idx="47"/>
          </p:nvPr>
        </p:nvSpPr>
        <p:spPr>
          <a:xfrm>
            <a:off x="8172360" y="6309360"/>
            <a:ext cx="502560" cy="4107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68F87542-2DCB-416B-A608-AEB5FCE6798B}" type="slidenum">
              <a: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3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69" name="Группа 6"/>
          <p:cNvGrpSpPr/>
          <p:nvPr/>
        </p:nvGrpSpPr>
        <p:grpSpPr>
          <a:xfrm>
            <a:off x="0" y="187560"/>
            <a:ext cx="9108360" cy="576000"/>
            <a:chOff x="0" y="187560"/>
            <a:chExt cx="9108360" cy="576000"/>
          </a:xfrm>
        </p:grpSpPr>
        <p:sp>
          <p:nvSpPr>
            <p:cNvPr id="170" name="Заголовок 13"/>
            <p:cNvSpPr/>
            <p:nvPr/>
          </p:nvSpPr>
          <p:spPr>
            <a:xfrm>
              <a:off x="0" y="188640"/>
              <a:ext cx="8758080" cy="574920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Приложения. Кросс-платформа. Сравнение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Равнобедренный треугольник 6"/>
            <p:cNvSpPr/>
            <p:nvPr/>
          </p:nvSpPr>
          <p:spPr>
            <a:xfrm rot="5400000">
              <a:off x="8647200" y="300960"/>
              <a:ext cx="574920" cy="3474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pic>
        <p:nvPicPr>
          <p:cNvPr id="172" name=""/>
          <p:cNvPicPr/>
          <p:nvPr/>
        </p:nvPicPr>
        <p:blipFill>
          <a:blip r:embed="rId1"/>
          <a:stretch/>
        </p:blipFill>
        <p:spPr>
          <a:xfrm>
            <a:off x="685800" y="803520"/>
            <a:ext cx="7122600" cy="58258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Num" idx="48"/>
          </p:nvPr>
        </p:nvSpPr>
        <p:spPr>
          <a:xfrm>
            <a:off x="8172360" y="6309360"/>
            <a:ext cx="502560" cy="4107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ECFA90B8-548F-46AB-BD6A-5191B1CC7943}" type="slidenum">
              <a: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3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74" name="Группа 2"/>
          <p:cNvGrpSpPr/>
          <p:nvPr/>
        </p:nvGrpSpPr>
        <p:grpSpPr>
          <a:xfrm>
            <a:off x="0" y="187560"/>
            <a:ext cx="9108360" cy="576000"/>
            <a:chOff x="0" y="187560"/>
            <a:chExt cx="9108360" cy="576000"/>
          </a:xfrm>
        </p:grpSpPr>
        <p:sp>
          <p:nvSpPr>
            <p:cNvPr id="175" name="Заголовок 9"/>
            <p:cNvSpPr/>
            <p:nvPr/>
          </p:nvSpPr>
          <p:spPr>
            <a:xfrm>
              <a:off x="0" y="188640"/>
              <a:ext cx="8758080" cy="574920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Приложения. KMP и Аврора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Равнобедренный треугольник 3"/>
            <p:cNvSpPr/>
            <p:nvPr/>
          </p:nvSpPr>
          <p:spPr>
            <a:xfrm rot="5400000">
              <a:off x="8647200" y="300960"/>
              <a:ext cx="574920" cy="3474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pic>
        <p:nvPicPr>
          <p:cNvPr id="177" name=""/>
          <p:cNvPicPr/>
          <p:nvPr/>
        </p:nvPicPr>
        <p:blipFill>
          <a:blip r:embed="rId1"/>
          <a:stretch/>
        </p:blipFill>
        <p:spPr>
          <a:xfrm>
            <a:off x="0" y="893520"/>
            <a:ext cx="5257080" cy="23994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178" name=""/>
          <p:cNvSpPr/>
          <p:nvPr/>
        </p:nvSpPr>
        <p:spPr>
          <a:xfrm>
            <a:off x="685800" y="3293640"/>
            <a:ext cx="3544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Типовой KMP проект с Авророй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4380480" y="6265440"/>
            <a:ext cx="2719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Структура KMP проекта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"/>
          <p:cNvPicPr/>
          <p:nvPr/>
        </p:nvPicPr>
        <p:blipFill>
          <a:blip r:embed="rId2"/>
          <a:stretch/>
        </p:blipFill>
        <p:spPr>
          <a:xfrm>
            <a:off x="3657600" y="3759480"/>
            <a:ext cx="4380480" cy="25264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2"/>
          <p:cNvSpPr/>
          <p:nvPr/>
        </p:nvSpPr>
        <p:spPr>
          <a:xfrm>
            <a:off x="1822320" y="243360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sldNum" idx="49"/>
          </p:nvPr>
        </p:nvSpPr>
        <p:spPr>
          <a:xfrm>
            <a:off x="8172360" y="6309360"/>
            <a:ext cx="502560" cy="4107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2D00AFA5-CBF5-4EEA-A779-43C4734A6531}" type="slidenum">
              <a: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3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83" name="Группа 4"/>
          <p:cNvGrpSpPr/>
          <p:nvPr/>
        </p:nvGrpSpPr>
        <p:grpSpPr>
          <a:xfrm>
            <a:off x="0" y="187560"/>
            <a:ext cx="9108360" cy="576000"/>
            <a:chOff x="0" y="187560"/>
            <a:chExt cx="9108360" cy="576000"/>
          </a:xfrm>
        </p:grpSpPr>
        <p:sp>
          <p:nvSpPr>
            <p:cNvPr id="184" name="Заголовок 1"/>
            <p:cNvSpPr/>
            <p:nvPr/>
          </p:nvSpPr>
          <p:spPr>
            <a:xfrm>
              <a:off x="0" y="188640"/>
              <a:ext cx="8758080" cy="574920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Заключение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Равнобедренный треугольник 2"/>
            <p:cNvSpPr/>
            <p:nvPr/>
          </p:nvSpPr>
          <p:spPr>
            <a:xfrm rot="5400000">
              <a:off x="8647200" y="300960"/>
              <a:ext cx="574920" cy="3474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sp>
        <p:nvSpPr>
          <p:cNvPr id="186" name="Заголовок 10"/>
          <p:cNvSpPr/>
          <p:nvPr/>
        </p:nvSpPr>
        <p:spPr>
          <a:xfrm>
            <a:off x="444600" y="1269000"/>
            <a:ext cx="8361360" cy="353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lang="ru-RU" sz="2000" b="1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Выполнены поставленные задачи: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Aft>
                <a:spcPts val="601"/>
              </a:spcAft>
              <a:buClr>
                <a:srgbClr val="000066"/>
              </a:buClr>
              <a:buFont typeface="OpenSymbol"/>
              <a:buAutoNum type="arabicParenR"/>
              <a:tabLst>
                <a:tab algn="l" pos="0"/>
              </a:tabLst>
            </a:pP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рассмотрена архитектура мобильных ОС;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Aft>
                <a:spcPts val="601"/>
              </a:spcAft>
              <a:buClr>
                <a:srgbClr val="000066"/>
              </a:buClr>
              <a:buFont typeface="OpenSymbol"/>
              <a:buAutoNum type="arabicParenR"/>
              <a:tabLst>
                <a:tab algn="l" pos="0"/>
              </a:tabLst>
            </a:pP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проанализированы особенности применения мобильных ОС в корпо­ративной среде;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Aft>
                <a:spcPts val="601"/>
              </a:spcAft>
              <a:buClr>
                <a:srgbClr val="000066"/>
              </a:buClr>
              <a:buFont typeface="OpenSymbol"/>
              <a:buAutoNum type="arabicParenR"/>
              <a:tabLst>
                <a:tab algn="l" pos="0"/>
              </a:tabLst>
            </a:pP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изучена специфика внедрения мобильных технологий в атомной отрасли;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Aft>
                <a:spcPts val="601"/>
              </a:spcAft>
              <a:buClr>
                <a:srgbClr val="000066"/>
              </a:buClr>
              <a:buFont typeface="OpenSymbol"/>
              <a:buAutoNum type="arabicParenR"/>
              <a:tabLst>
                <a:tab algn="l" pos="0"/>
              </a:tabLst>
            </a:pP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классифицированы виды мобильных приложений;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Aft>
                <a:spcPts val="601"/>
              </a:spcAft>
              <a:buClr>
                <a:srgbClr val="000066"/>
              </a:buClr>
              <a:buFont typeface="OpenSymbol"/>
              <a:buAutoNum type="arabicParenR"/>
              <a:tabLst>
                <a:tab algn="l" pos="0"/>
              </a:tabLst>
            </a:pPr>
            <a:r>
              <a:rPr lang="ru-RU" sz="2000" b="0" u="none" strike="noStrike">
                <a:solidFill>
                  <a:srgbClr val="000066"/>
                </a:solidFill>
                <a:effectLst/>
                <a:uFillTx/>
                <a:latin typeface="Arial"/>
                <a:ea typeface="Arial"/>
              </a:rPr>
              <a:t>выявлены особенности разработки и эксплуатации корпора­тивных (enterprise) приложений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2"/>
          <p:cNvSpPr/>
          <p:nvPr/>
        </p:nvSpPr>
        <p:spPr>
          <a:xfrm>
            <a:off x="1822320" y="2433600"/>
            <a:ext cx="5605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Impact"/>
              <a:ea typeface="Aria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sldNum" idx="50"/>
          </p:nvPr>
        </p:nvSpPr>
        <p:spPr>
          <a:xfrm>
            <a:off x="8172360" y="6309360"/>
            <a:ext cx="502560" cy="4107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46B9FFC6-587B-45C2-A6E8-34BC5DAD9FF2}" type="slidenum">
              <a:rPr lang="ru-RU" sz="136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3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89" name="Группа 4"/>
          <p:cNvGrpSpPr/>
          <p:nvPr/>
        </p:nvGrpSpPr>
        <p:grpSpPr>
          <a:xfrm>
            <a:off x="1800" y="620640"/>
            <a:ext cx="9108360" cy="862560"/>
            <a:chOff x="1800" y="620640"/>
            <a:chExt cx="9108360" cy="862560"/>
          </a:xfrm>
        </p:grpSpPr>
        <p:sp>
          <p:nvSpPr>
            <p:cNvPr id="190" name="Заголовок 1"/>
            <p:cNvSpPr/>
            <p:nvPr/>
          </p:nvSpPr>
          <p:spPr>
            <a:xfrm>
              <a:off x="1800" y="620640"/>
              <a:ext cx="8758080" cy="862560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ru-RU" sz="2400" b="0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Благодарю за внимание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Равнобедренный треугольник 2"/>
            <p:cNvSpPr/>
            <p:nvPr/>
          </p:nvSpPr>
          <p:spPr>
            <a:xfrm rot="5400000">
              <a:off x="8505000" y="878040"/>
              <a:ext cx="862560" cy="3474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мирэа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 мирэа</Template>
  <TotalTime>6029</TotalTime>
  <Application>LibreOffice/25.8.5.2$Linux_X86_64 LibreOffice_project/580$Build-2</Application>
  <AppVersion>15.0000</AppVersion>
  <Words>570</Words>
  <Paragraphs>175</Paragraphs>
  <Company>SPecialiST RePack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2021-10-31T11:10:39Z</dcterms:created>
  <dc:creator>Бергер ЕГ</dc:creator>
  <dc:description/>
  <dc:language>en-US</dc:language>
  <cp:lastModifiedBy/>
  <dcterms:modified xsi:type="dcterms:W3CDTF">2026-05-17T16:01:40Z</dcterms:modified>
  <cp:revision>128</cp:revision>
  <dc:subject/>
  <dc:title>Слайд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Экран (4:3)</vt:lpwstr>
  </property>
  <property fmtid="{D5CDD505-2E9C-101B-9397-08002B2CF9AE}" pid="4" name="Slides">
    <vt:i4>14</vt:i4>
  </property>
</Properties>
</file>